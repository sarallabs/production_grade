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301" r:id="rId3"/>
    <p:sldId id="259" r:id="rId4"/>
    <p:sldId id="260" r:id="rId5"/>
    <p:sldId id="302" r:id="rId6"/>
    <p:sldId id="309" r:id="rId7"/>
    <p:sldId id="303" r:id="rId8"/>
    <p:sldId id="310" r:id="rId9"/>
    <p:sldId id="343" r:id="rId10"/>
    <p:sldId id="345" r:id="rId11"/>
    <p:sldId id="342" r:id="rId12"/>
    <p:sldId id="332" r:id="rId13"/>
    <p:sldId id="333" r:id="rId14"/>
    <p:sldId id="304" r:id="rId15"/>
    <p:sldId id="306" r:id="rId16"/>
    <p:sldId id="312" r:id="rId17"/>
    <p:sldId id="334" r:id="rId18"/>
    <p:sldId id="335" r:id="rId19"/>
    <p:sldId id="336" r:id="rId20"/>
    <p:sldId id="307" r:id="rId21"/>
    <p:sldId id="341" r:id="rId22"/>
    <p:sldId id="313" r:id="rId23"/>
    <p:sldId id="337" r:id="rId24"/>
    <p:sldId id="338" r:id="rId25"/>
    <p:sldId id="339" r:id="rId26"/>
    <p:sldId id="340" r:id="rId27"/>
    <p:sldId id="308" r:id="rId28"/>
    <p:sldId id="267" r:id="rId29"/>
    <p:sldId id="277" r:id="rId30"/>
    <p:sldId id="278" r:id="rId31"/>
    <p:sldId id="280" r:id="rId32"/>
    <p:sldId id="282" r:id="rId33"/>
    <p:sldId id="324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4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>
        <p:scale>
          <a:sx n="50" d="100"/>
          <a:sy n="50" d="100"/>
        </p:scale>
        <p:origin x="-1878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E7819-E63B-4F2B-83AD-D1D931849B17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CA3A3-E6CE-4FC8-94B1-20E2F2F384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DABFFA-286A-4389-9C35-0CBE8852D0CE}" type="slidenum">
              <a:rPr lang="en-US"/>
              <a:pPr/>
              <a:t>26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Effects of freeze thaw on granite. Mt. San Jacinto,southern California, Transverse Ranges.  About 8,500 feet.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eology.com/rocks/basalt.shtml" TargetMode="External"/><Relationship Id="rId7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hyperlink" Target="http://www.google.com/url?q=http://pubs.usgs.gov/dds/dds-033/USGS_3D/ssx_txt/heterog.htm&amp;sa=U&amp;ei=S6c6U8rXOsn6iQfL7oHABw&amp;ved=0CCEQ9QEwAg&amp;usg=AFQjCNGcalDadBphnQHyxkfo_KOyjwJbFA" TargetMode="Externa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en.wikipedia.org/wiki/File:GeologicalExfoliationOfGraniteRock.jpg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://en.wikipedia.org/wiki/File:Abiskorock.JPG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en.wikipedia.org/wiki/File:Arbol_de_Piedra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0" y="457200"/>
            <a:ext cx="8229600" cy="586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http://image.slidesharecdn.com/weathering2013-131120172614-phpapp02/95/slide-1-638.jpg?cb=138499004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066800" y="2286000"/>
            <a:ext cx="7315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rgbClr val="FFFF00"/>
                </a:solidFill>
              </a:rPr>
              <a:t>Weathering – Types of weathering – Physical weathering of rocks – Agents of physical weathering and their role-Biological weathering – Role of flora and fauna in weathering process.</a:t>
            </a:r>
            <a:endParaRPr lang="en-IN" sz="4000" b="1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47800" y="838200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FF00"/>
                </a:solidFill>
              </a:rPr>
              <a:t>LEC : 5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382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Weathering: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is the process of </a:t>
            </a:r>
            <a:r>
              <a:rPr lang="en-US" sz="3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Physical disintegration and chemical decomposition of rocks and minerals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resulting in the formation of parent material or 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Regolith </a:t>
            </a:r>
          </a:p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 It is basically a 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combination of transformation and synthesis </a:t>
            </a:r>
          </a:p>
          <a:p>
            <a:r>
              <a:rPr lang="en-US" sz="3200" b="1" dirty="0" smtClean="0"/>
              <a:t>Types of Weathering</a:t>
            </a:r>
            <a:endParaRPr lang="en-IN" sz="3200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7030A0"/>
                </a:solidFill>
              </a:rPr>
              <a:t>Physical / Mechanical Weathering (Disintegration)</a:t>
            </a:r>
            <a:endParaRPr lang="en-IN" sz="3200" dirty="0" smtClean="0">
              <a:solidFill>
                <a:srgbClr val="7030A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7030A0"/>
                </a:solidFill>
              </a:rPr>
              <a:t>Chemical Weathering (Decomposition)</a:t>
            </a:r>
            <a:endParaRPr lang="en-IN" sz="3200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7030A0"/>
                </a:solidFill>
              </a:rPr>
              <a:t>Biological Weathering (Disintegration and decomposition)</a:t>
            </a:r>
            <a:endParaRPr lang="en-IN" sz="3200" dirty="0" smtClean="0">
              <a:solidFill>
                <a:srgbClr val="7030A0"/>
              </a:solidFill>
            </a:endParaRPr>
          </a:p>
          <a:p>
            <a:pPr algn="just"/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AutoShape 1028"/>
          <p:cNvSpPr>
            <a:spLocks noChangeArrowheads="1"/>
          </p:cNvSpPr>
          <p:nvPr/>
        </p:nvSpPr>
        <p:spPr bwMode="auto">
          <a:xfrm rot="11679634">
            <a:off x="1044157" y="2078307"/>
            <a:ext cx="914400" cy="1143000"/>
          </a:xfrm>
          <a:prstGeom prst="flowChartManualInput">
            <a:avLst/>
          </a:prstGeom>
          <a:solidFill>
            <a:srgbClr val="DB432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7" name="Line 1029"/>
          <p:cNvSpPr>
            <a:spLocks noChangeShapeType="1"/>
          </p:cNvSpPr>
          <p:nvPr/>
        </p:nvSpPr>
        <p:spPr bwMode="auto">
          <a:xfrm>
            <a:off x="2057400" y="2590800"/>
            <a:ext cx="838200" cy="0"/>
          </a:xfrm>
          <a:prstGeom prst="line">
            <a:avLst/>
          </a:prstGeom>
          <a:ln w="5715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4758" name="AutoShape 1030"/>
          <p:cNvSpPr>
            <a:spLocks noChangeArrowheads="1"/>
          </p:cNvSpPr>
          <p:nvPr/>
        </p:nvSpPr>
        <p:spPr bwMode="auto">
          <a:xfrm>
            <a:off x="2971800" y="2514600"/>
            <a:ext cx="381000" cy="381000"/>
          </a:xfrm>
          <a:prstGeom prst="octagon">
            <a:avLst>
              <a:gd name="adj" fmla="val 29287"/>
            </a:avLst>
          </a:prstGeom>
          <a:solidFill>
            <a:srgbClr val="DB432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9" name="AutoShape 1031"/>
          <p:cNvSpPr>
            <a:spLocks noChangeArrowheads="1"/>
          </p:cNvSpPr>
          <p:nvPr/>
        </p:nvSpPr>
        <p:spPr bwMode="auto">
          <a:xfrm>
            <a:off x="3276600" y="2438400"/>
            <a:ext cx="381000" cy="381000"/>
          </a:xfrm>
          <a:prstGeom prst="octagon">
            <a:avLst>
              <a:gd name="adj" fmla="val 29287"/>
            </a:avLst>
          </a:prstGeom>
          <a:solidFill>
            <a:srgbClr val="DB432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0" name="AutoShape 1032"/>
          <p:cNvSpPr>
            <a:spLocks noChangeArrowheads="1"/>
          </p:cNvSpPr>
          <p:nvPr/>
        </p:nvSpPr>
        <p:spPr bwMode="auto">
          <a:xfrm>
            <a:off x="3048000" y="2209800"/>
            <a:ext cx="381000" cy="381000"/>
          </a:xfrm>
          <a:prstGeom prst="octagon">
            <a:avLst>
              <a:gd name="adj" fmla="val 29287"/>
            </a:avLst>
          </a:prstGeom>
          <a:solidFill>
            <a:srgbClr val="DB432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1" name="Line 1033"/>
          <p:cNvSpPr>
            <a:spLocks noChangeShapeType="1"/>
          </p:cNvSpPr>
          <p:nvPr/>
        </p:nvSpPr>
        <p:spPr bwMode="auto">
          <a:xfrm>
            <a:off x="3962400" y="2514600"/>
            <a:ext cx="838200" cy="0"/>
          </a:xfrm>
          <a:prstGeom prst="line">
            <a:avLst/>
          </a:prstGeom>
          <a:noFill/>
          <a:ln w="57150">
            <a:solidFill>
              <a:srgbClr val="00206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AutoShape 1034"/>
          <p:cNvSpPr>
            <a:spLocks noChangeArrowheads="1"/>
          </p:cNvSpPr>
          <p:nvPr/>
        </p:nvSpPr>
        <p:spPr bwMode="auto">
          <a:xfrm>
            <a:off x="4876800" y="23622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AutoShape 1035"/>
          <p:cNvSpPr>
            <a:spLocks noChangeArrowheads="1"/>
          </p:cNvSpPr>
          <p:nvPr/>
        </p:nvSpPr>
        <p:spPr bwMode="auto">
          <a:xfrm>
            <a:off x="4953000" y="25146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4" name="AutoShape 1036"/>
          <p:cNvSpPr>
            <a:spLocks noChangeArrowheads="1"/>
          </p:cNvSpPr>
          <p:nvPr/>
        </p:nvSpPr>
        <p:spPr bwMode="auto">
          <a:xfrm>
            <a:off x="5181600" y="25908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5" name="AutoShape 1037"/>
          <p:cNvSpPr>
            <a:spLocks noChangeArrowheads="1"/>
          </p:cNvSpPr>
          <p:nvPr/>
        </p:nvSpPr>
        <p:spPr bwMode="auto">
          <a:xfrm>
            <a:off x="5334000" y="25146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6" name="AutoShape 1038"/>
          <p:cNvSpPr>
            <a:spLocks noChangeArrowheads="1"/>
          </p:cNvSpPr>
          <p:nvPr/>
        </p:nvSpPr>
        <p:spPr bwMode="auto">
          <a:xfrm>
            <a:off x="5105400" y="23622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7" name="AutoShape 1039"/>
          <p:cNvSpPr>
            <a:spLocks noChangeArrowheads="1"/>
          </p:cNvSpPr>
          <p:nvPr/>
        </p:nvSpPr>
        <p:spPr bwMode="auto">
          <a:xfrm>
            <a:off x="5105400" y="2514600"/>
            <a:ext cx="228600" cy="2286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8" name="Line 1040"/>
          <p:cNvSpPr>
            <a:spLocks noChangeShapeType="1"/>
          </p:cNvSpPr>
          <p:nvPr/>
        </p:nvSpPr>
        <p:spPr bwMode="auto">
          <a:xfrm>
            <a:off x="5791200" y="2667000"/>
            <a:ext cx="838200" cy="0"/>
          </a:xfrm>
          <a:prstGeom prst="line">
            <a:avLst/>
          </a:prstGeom>
          <a:noFill/>
          <a:ln w="57150">
            <a:solidFill>
              <a:srgbClr val="00206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9" name="AutoShape 1041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0" name="AutoShape 1042"/>
          <p:cNvSpPr>
            <a:spLocks noChangeArrowheads="1"/>
          </p:cNvSpPr>
          <p:nvPr/>
        </p:nvSpPr>
        <p:spPr bwMode="auto">
          <a:xfrm>
            <a:off x="6934200" y="25908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1" name="AutoShape 1043"/>
          <p:cNvSpPr>
            <a:spLocks noChangeArrowheads="1"/>
          </p:cNvSpPr>
          <p:nvPr/>
        </p:nvSpPr>
        <p:spPr bwMode="auto">
          <a:xfrm>
            <a:off x="7086600" y="28194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2" name="AutoShape 1044"/>
          <p:cNvSpPr>
            <a:spLocks noChangeArrowheads="1"/>
          </p:cNvSpPr>
          <p:nvPr/>
        </p:nvSpPr>
        <p:spPr bwMode="auto">
          <a:xfrm>
            <a:off x="7086600" y="25908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3" name="AutoShape 1045"/>
          <p:cNvSpPr>
            <a:spLocks noChangeArrowheads="1"/>
          </p:cNvSpPr>
          <p:nvPr/>
        </p:nvSpPr>
        <p:spPr bwMode="auto">
          <a:xfrm>
            <a:off x="7239000" y="26670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4" name="AutoShape 1046"/>
          <p:cNvSpPr>
            <a:spLocks noChangeArrowheads="1"/>
          </p:cNvSpPr>
          <p:nvPr/>
        </p:nvSpPr>
        <p:spPr bwMode="auto">
          <a:xfrm>
            <a:off x="7162800" y="26670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5" name="AutoShape 1047"/>
          <p:cNvSpPr>
            <a:spLocks noChangeArrowheads="1"/>
          </p:cNvSpPr>
          <p:nvPr/>
        </p:nvSpPr>
        <p:spPr bwMode="auto">
          <a:xfrm>
            <a:off x="7315200" y="25146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6" name="AutoShape 1048"/>
          <p:cNvSpPr>
            <a:spLocks noChangeArrowheads="1"/>
          </p:cNvSpPr>
          <p:nvPr/>
        </p:nvSpPr>
        <p:spPr bwMode="auto">
          <a:xfrm>
            <a:off x="7086600" y="27432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7" name="AutoShape 1049"/>
          <p:cNvSpPr>
            <a:spLocks noChangeArrowheads="1"/>
          </p:cNvSpPr>
          <p:nvPr/>
        </p:nvSpPr>
        <p:spPr bwMode="auto">
          <a:xfrm>
            <a:off x="7086600" y="2590800"/>
            <a:ext cx="76200" cy="76200"/>
          </a:xfrm>
          <a:prstGeom prst="flowChartConnector">
            <a:avLst/>
          </a:prstGeom>
          <a:solidFill>
            <a:srgbClr val="DB432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33400" y="685800"/>
            <a:ext cx="7924800" cy="10772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3200" b="1" dirty="0" smtClean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The breakdown of rocks into smaller </a:t>
            </a:r>
          </a:p>
          <a:p>
            <a:r>
              <a:rPr lang="en-GB" sz="3200" b="1" dirty="0" smtClean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    fragments is called </a:t>
            </a:r>
            <a:r>
              <a:rPr lang="en-GB" sz="3200" b="1" dirty="0" smtClean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weathering</a:t>
            </a:r>
            <a:r>
              <a:rPr lang="en-GB" sz="3200" dirty="0" smtClean="0">
                <a:solidFill>
                  <a:srgbClr val="010067"/>
                </a:solidFill>
              </a:rPr>
              <a:t>.</a:t>
            </a:r>
            <a:endParaRPr lang="en-US" sz="3200" dirty="0"/>
          </a:p>
        </p:txBody>
      </p:sp>
      <p:sp>
        <p:nvSpPr>
          <p:cNvPr id="28" name="Rectangle 27"/>
          <p:cNvSpPr/>
          <p:nvPr/>
        </p:nvSpPr>
        <p:spPr>
          <a:xfrm>
            <a:off x="609600" y="3429000"/>
            <a:ext cx="7241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There are three types of weathering:</a:t>
            </a: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1042988" y="4149725"/>
            <a:ext cx="7643812" cy="176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1950" indent="-361950" algn="l">
              <a:spcBef>
                <a:spcPct val="50000"/>
              </a:spcBef>
              <a:buFont typeface="Wingdings" pitchFamily="2" charset="2"/>
              <a:buChar char="l"/>
            </a:pPr>
            <a:r>
              <a:rPr lang="en-GB" sz="3200" b="1" dirty="0" smtClean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Physical/Mechanical </a:t>
            </a:r>
            <a:r>
              <a:rPr lang="en-GB" sz="3200" b="1" dirty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weathering</a:t>
            </a:r>
            <a:endParaRPr lang="en-GB" sz="3200" dirty="0">
              <a:solidFill>
                <a:srgbClr val="010067"/>
              </a:solidFill>
              <a:latin typeface="Arial" pitchFamily="34" charset="0"/>
              <a:cs typeface="Arial" pitchFamily="34" charset="0"/>
            </a:endParaRPr>
          </a:p>
          <a:p>
            <a:pPr marL="361950" indent="-361950" algn="l">
              <a:spcBef>
                <a:spcPct val="20000"/>
              </a:spcBef>
              <a:buFont typeface="Wingdings" pitchFamily="2" charset="2"/>
              <a:buChar char="l"/>
            </a:pPr>
            <a:r>
              <a:rPr lang="en-GB" sz="3200" b="1" dirty="0" smtClean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Chemical </a:t>
            </a:r>
            <a:r>
              <a:rPr lang="en-GB" sz="3200" b="1" dirty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weathering</a:t>
            </a:r>
          </a:p>
          <a:p>
            <a:pPr marL="361950" indent="-361950" algn="l">
              <a:spcBef>
                <a:spcPct val="20000"/>
              </a:spcBef>
              <a:buFont typeface="Wingdings" pitchFamily="2" charset="2"/>
              <a:buChar char="l"/>
            </a:pPr>
            <a:r>
              <a:rPr lang="en-GB" sz="3200" b="1" dirty="0" smtClean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Biological </a:t>
            </a:r>
            <a:r>
              <a:rPr lang="en-GB" sz="3200" b="1" dirty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weathering</a:t>
            </a:r>
            <a:endParaRPr lang="en-GB" sz="3200" dirty="0">
              <a:solidFill>
                <a:srgbClr val="010067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172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Physical/Mechanical weathering:</a:t>
            </a:r>
          </a:p>
          <a:p>
            <a:pPr algn="just">
              <a:buNone/>
            </a:pPr>
            <a:r>
              <a:rPr lang="en-US" dirty="0" smtClean="0">
                <a:cs typeface="Arial" pitchFamily="34" charset="0"/>
              </a:rPr>
              <a:t>   </a:t>
            </a:r>
          </a:p>
          <a:p>
            <a:pPr algn="just">
              <a:buNone/>
            </a:pPr>
            <a:r>
              <a:rPr lang="en-US" dirty="0" smtClean="0">
                <a:cs typeface="Arial" pitchFamily="34" charset="0"/>
              </a:rPr>
              <a:t>   </a:t>
            </a:r>
            <a:r>
              <a:rPr lang="en-IN" dirty="0" smtClean="0">
                <a:cs typeface="Arial" pitchFamily="34" charset="0"/>
              </a:rPr>
              <a:t>Physical weathering is a mechanical process, causing disintegration of consolidated massive rocks in to smaller pieces. </a:t>
            </a:r>
            <a:r>
              <a:rPr lang="en-US" dirty="0" smtClean="0">
                <a:cs typeface="Arial" pitchFamily="34" charset="0"/>
              </a:rPr>
              <a:t>    </a:t>
            </a:r>
          </a:p>
          <a:p>
            <a:pPr>
              <a:buNone/>
            </a:pPr>
            <a:r>
              <a:rPr lang="en-US" b="1" dirty="0" smtClean="0"/>
              <a:t>  no change in chemical composition-just disintegration into smaller pieces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cs typeface="Arial" pitchFamily="34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Agents for Physical weathering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Physical condition of rock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Temperature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Water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Ice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Wind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Atmospheric electric phenomena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Physical/Mechanical weathering: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Agents for Physical weathering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Physical condition of rock: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cs typeface="Arial" pitchFamily="34" charset="0"/>
              </a:rPr>
              <a:t>The permeability of rock is probably the most important single factor which determines the rate at which the rocks weather Ex:- Coarse textured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sand stone </a:t>
            </a:r>
            <a:r>
              <a:rPr lang="en-US" dirty="0" smtClean="0">
                <a:cs typeface="Arial" pitchFamily="34" charset="0"/>
              </a:rPr>
              <a:t>(porous) weathers more rapidly than a fine textured (almost solid) </a:t>
            </a:r>
            <a:r>
              <a:rPr lang="en-US" dirty="0" smtClean="0">
                <a:solidFill>
                  <a:srgbClr val="FF0000"/>
                </a:solidFill>
                <a:cs typeface="Arial" pitchFamily="34" charset="0"/>
              </a:rPr>
              <a:t>basalt.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Basalt weathers rapidly than Granite</a:t>
            </a:r>
          </a:p>
          <a:p>
            <a:pPr algn="just"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MIT OpenCourseWare : see MIT OCW Creative Commons license at http://ocw.mit.edu/OcwWeb/Global/terms-of-use.ht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142999"/>
            <a:ext cx="3886200" cy="281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4" descr="basalt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1143000"/>
            <a:ext cx="3889375" cy="2832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2" descr="http://t3.gstatic.com/images?q=tbn:ANd9GcTI2H0ItEatLs9M2da8BshqnnuddRw1oRL02vA_q_39NhlLl5p4JeRB4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4074161"/>
            <a:ext cx="3886200" cy="2631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152400"/>
            <a:ext cx="5410200" cy="60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Physical condition of rock</a:t>
            </a:r>
          </a:p>
        </p:txBody>
      </p:sp>
      <p:pic>
        <p:nvPicPr>
          <p:cNvPr id="1026" name="Picture 2" descr="C:\Users\Soils\Desktop\images quotes\sandston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00600" y="4191000"/>
            <a:ext cx="39370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9916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Physical/Mechanical weathering: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Temperature: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smtClean="0">
                <a:cs typeface="Arial" pitchFamily="34" charset="0"/>
              </a:rPr>
              <a:t>As a result of diurnal temperature changes the rocks heated during day and cooled during night. Due to mono-</a:t>
            </a:r>
            <a:r>
              <a:rPr lang="en-US" sz="2800" dirty="0" err="1" smtClean="0">
                <a:cs typeface="Arial" pitchFamily="34" charset="0"/>
              </a:rPr>
              <a:t>mineralic</a:t>
            </a:r>
            <a:r>
              <a:rPr lang="en-US" sz="2800" dirty="0" smtClean="0">
                <a:cs typeface="Arial" pitchFamily="34" charset="0"/>
              </a:rPr>
              <a:t> and Poly-</a:t>
            </a:r>
            <a:r>
              <a:rPr lang="en-US" sz="2800" dirty="0" err="1" smtClean="0">
                <a:cs typeface="Arial" pitchFamily="34" charset="0"/>
              </a:rPr>
              <a:t>mineralic</a:t>
            </a:r>
            <a:r>
              <a:rPr lang="en-US" sz="2800" dirty="0" smtClean="0">
                <a:cs typeface="Arial" pitchFamily="34" charset="0"/>
              </a:rPr>
              <a:t> nature of rocks, a Differential expansion and contraction of minerals due to diurnal temperature changes resulting in peeling off the surface layers from rocks this process phenomenon is called ‘</a:t>
            </a:r>
            <a:r>
              <a:rPr lang="en-US" sz="2800" b="1" dirty="0" smtClean="0">
                <a:cs typeface="Arial" pitchFamily="34" charset="0"/>
              </a:rPr>
              <a:t>Exfoliation’</a:t>
            </a:r>
            <a:r>
              <a:rPr lang="en-US" sz="2800" dirty="0" smtClean="0">
                <a:cs typeface="Arial" pitchFamily="34" charset="0"/>
              </a:rPr>
              <a:t> or Onion type weathering      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Ex: Basalt and Granite</a:t>
            </a:r>
            <a:endParaRPr lang="en-US" sz="2800" b="1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"/>
            <a:ext cx="3048000" cy="60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Temperature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39725" y="914400"/>
            <a:ext cx="2647950" cy="2876550"/>
            <a:chOff x="214" y="744"/>
            <a:chExt cx="1668" cy="1812"/>
          </a:xfrm>
          <a:solidFill>
            <a:schemeClr val="bg1"/>
          </a:solidFill>
        </p:grpSpPr>
        <p:pic>
          <p:nvPicPr>
            <p:cNvPr id="4" name="Picture 22" descr="exfoliation_1"/>
            <p:cNvPicPr>
              <a:picLocks noChangeArrowheads="1"/>
            </p:cNvPicPr>
            <p:nvPr/>
          </p:nvPicPr>
          <p:blipFill>
            <a:blip r:embed="rId2" cstate="print"/>
            <a:srcRect t="2946" r="39726" b="23207"/>
            <a:stretch>
              <a:fillRect/>
            </a:stretch>
          </p:blipFill>
          <p:spPr bwMode="auto">
            <a:xfrm>
              <a:off x="214" y="749"/>
              <a:ext cx="1668" cy="180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26" descr="exfoliation_1"/>
            <p:cNvPicPr>
              <a:picLocks noChangeArrowheads="1"/>
            </p:cNvPicPr>
            <p:nvPr/>
          </p:nvPicPr>
          <p:blipFill>
            <a:blip r:embed="rId2" cstate="print"/>
            <a:srcRect l="74254" t="20628" r="11137" b="63361"/>
            <a:stretch>
              <a:fillRect/>
            </a:stretch>
          </p:blipFill>
          <p:spPr bwMode="auto">
            <a:xfrm>
              <a:off x="237" y="744"/>
              <a:ext cx="356" cy="39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10" descr="exfoliation_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22638" y="762000"/>
            <a:ext cx="2644775" cy="298608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6396037" y="838200"/>
            <a:ext cx="2747963" cy="2881313"/>
            <a:chOff x="3910" y="742"/>
            <a:chExt cx="1731" cy="1815"/>
          </a:xfrm>
        </p:grpSpPr>
        <p:pic>
          <p:nvPicPr>
            <p:cNvPr id="8" name="Picture 19" descr="exfoliation_3"/>
            <p:cNvPicPr>
              <a:picLocks noChangeArrowheads="1"/>
            </p:cNvPicPr>
            <p:nvPr/>
          </p:nvPicPr>
          <p:blipFill>
            <a:blip r:embed="rId4" cstate="print"/>
            <a:srcRect t="3316" r="16687" b="4144"/>
            <a:stretch>
              <a:fillRect/>
            </a:stretch>
          </p:blipFill>
          <p:spPr bwMode="auto">
            <a:xfrm>
              <a:off x="3910" y="743"/>
              <a:ext cx="1731" cy="18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23" descr="exfoliation_1"/>
            <p:cNvPicPr>
              <a:picLocks noChangeArrowheads="1"/>
            </p:cNvPicPr>
            <p:nvPr/>
          </p:nvPicPr>
          <p:blipFill>
            <a:blip r:embed="rId2" cstate="print"/>
            <a:srcRect l="74254" t="20628" r="11137" b="63361"/>
            <a:stretch>
              <a:fillRect/>
            </a:stretch>
          </p:blipFill>
          <p:spPr bwMode="auto">
            <a:xfrm>
              <a:off x="3930" y="742"/>
              <a:ext cx="356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9875" y="3962400"/>
            <a:ext cx="2930525" cy="276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 marL="361950" indent="-361950">
              <a:lnSpc>
                <a:spcPct val="90000"/>
              </a:lnSpc>
              <a:spcBef>
                <a:spcPct val="50000"/>
              </a:spcBef>
            </a:pPr>
            <a:r>
              <a:rPr lang="en-GB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1.</a:t>
            </a:r>
            <a:r>
              <a:rPr lang="en-GB" sz="28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800" b="1" dirty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During the day the sun heats up the surface of the rock causing the rock to expand</a:t>
            </a:r>
            <a:r>
              <a:rPr lang="en-GB" dirty="0">
                <a:solidFill>
                  <a:srgbClr val="010067"/>
                </a:solidFill>
              </a:rPr>
              <a:t>.</a:t>
            </a:r>
            <a:r>
              <a:rPr lang="en-GB" dirty="0"/>
              <a:t> 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3276600" y="4076700"/>
            <a:ext cx="287972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1950" indent="-361950" algn="l">
              <a:lnSpc>
                <a:spcPct val="90000"/>
              </a:lnSpc>
              <a:spcBef>
                <a:spcPct val="50000"/>
              </a:spcBef>
            </a:pPr>
            <a:r>
              <a:rPr lang="en-GB" sz="2800" b="1" dirty="0">
                <a:latin typeface="Arial" pitchFamily="34" charset="0"/>
                <a:cs typeface="Arial" pitchFamily="34" charset="0"/>
              </a:rPr>
              <a:t>2. During the night the rock cools down and contracts.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5791201" y="3657600"/>
            <a:ext cx="3244850" cy="314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0" bIns="0">
            <a:spAutoFit/>
          </a:bodyPr>
          <a:lstStyle/>
          <a:p>
            <a:pPr marL="361950" indent="-361950" algn="l">
              <a:lnSpc>
                <a:spcPct val="90000"/>
              </a:lnSpc>
              <a:spcBef>
                <a:spcPct val="50000"/>
              </a:spcBef>
            </a:pPr>
            <a:r>
              <a:rPr lang="en-GB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en-GB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800" b="1" dirty="0">
                <a:solidFill>
                  <a:srgbClr val="010067"/>
                </a:solidFill>
                <a:latin typeface="Arial" pitchFamily="34" charset="0"/>
                <a:cs typeface="Arial" pitchFamily="34" charset="0"/>
              </a:rPr>
              <a:t>As the rock keeps expanding and contracting, pieces of surface rock begin to flake and fall off.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396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54" y="2375595"/>
            <a:ext cx="8003291" cy="2729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8200" y="990600"/>
            <a:ext cx="7086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Repeated daily heating  and cooling of rocks  leads  to split due to expansion and  contraction of different minerals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7541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52400"/>
            <a:ext cx="54102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C00000"/>
                </a:solidFill>
              </a:rPr>
              <a:t>EXFOLIATION</a:t>
            </a:r>
            <a:r>
              <a:rPr lang="en-IN" dirty="0" smtClean="0"/>
              <a:t> 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259093"/>
            <a:ext cx="3298825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1676400"/>
            <a:ext cx="47244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 smtClean="0"/>
              <a:t>Rock breaks off into sheets along joints which are parallel to the surface.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 smtClean="0"/>
              <a:t>Caused by expansion of rock due to uplift and removal of surface material that originally buried the rock.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49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7" descr="http://upload.wikimedia.org/wikipedia/commons/thumb/b/be/GeologicalExfoliationOfGraniteRock.jpg/220px-GeologicalExfoliationOfGraniteRock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7924800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381000" y="5911850"/>
            <a:ext cx="769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3600" dirty="0">
                <a:latin typeface="Times New Roman" pitchFamily="18" charset="0"/>
                <a:cs typeface="Times New Roman" pitchFamily="18" charset="0"/>
              </a:rPr>
              <a:t>Exfoliated Granite Sheets.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49683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126203.PICT copy                                               000003D8Images from West               B02F1827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82000" cy="5410200"/>
          </a:xfrm>
          <a:prstGeom prst="rect">
            <a:avLst/>
          </a:prstGeom>
          <a:noFill/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latin typeface="Arial" pitchFamily="34" charset="0"/>
                <a:cs typeface="Arial" pitchFamily="34" charset="0"/>
              </a:rPr>
              <a:t>     Sheet Joints  (Exfoliation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418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Physical/Mechanical weathering: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Cold Temperature: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Cold temperature causes the water in the cracks and crevices freezes in to ice, which increases the volume of water by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 percent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exerts pressure of about 1465 tonnes/m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which leads to break down of rocks.</a:t>
            </a:r>
          </a:p>
          <a:p>
            <a:pPr algn="just">
              <a:buFont typeface="Wingdings" pitchFamily="2" charset="2"/>
              <a:buChar char="Ø"/>
            </a:pPr>
            <a:endParaRPr lang="en-US" b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6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Physical/Mechanical weathering: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70C0"/>
                </a:solidFill>
                <a:cs typeface="Arial" pitchFamily="34" charset="0"/>
              </a:rPr>
              <a:t>Water: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b="1" dirty="0" smtClean="0">
                <a:cs typeface="Arial" pitchFamily="34" charset="0"/>
              </a:rPr>
              <a:t>Most </a:t>
            </a:r>
            <a:r>
              <a:rPr lang="en-US" sz="2800" b="1" dirty="0" smtClean="0">
                <a:solidFill>
                  <a:srgbClr val="FF0000"/>
                </a:solidFill>
                <a:cs typeface="Arial" pitchFamily="34" charset="0"/>
              </a:rPr>
              <a:t>Pronounced weathering agent </a:t>
            </a:r>
            <a:r>
              <a:rPr lang="en-US" sz="2800" b="1" dirty="0" smtClean="0">
                <a:cs typeface="Arial" pitchFamily="34" charset="0"/>
              </a:rPr>
              <a:t>and it </a:t>
            </a:r>
            <a:r>
              <a:rPr lang="en-US" sz="2800" dirty="0" smtClean="0">
                <a:cs typeface="Arial" pitchFamily="34" charset="0"/>
              </a:rPr>
              <a:t>acts as disintegrating, transporting and depositing agent</a:t>
            </a:r>
          </a:p>
          <a:p>
            <a:pPr algn="just">
              <a:buFont typeface="Wingdings" pitchFamily="2" charset="2"/>
              <a:buChar char="Ø"/>
            </a:pPr>
            <a:endParaRPr lang="en-US" sz="2800" b="1" dirty="0" smtClean="0"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b="1" dirty="0" smtClean="0">
                <a:cs typeface="Arial" pitchFamily="34" charset="0"/>
              </a:rPr>
              <a:t>Action of flowing water leads to collision of rocks, resulting in formation of smaller fragments which are transported and deposited at far off places </a:t>
            </a:r>
          </a:p>
          <a:p>
            <a:pPr algn="just">
              <a:buFont typeface="Wingdings" pitchFamily="2" charset="2"/>
              <a:buChar char="Ø"/>
            </a:pPr>
            <a:endParaRPr lang="en-US" sz="2800" b="1" dirty="0" smtClean="0"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b="1" dirty="0" smtClean="0">
                <a:cs typeface="Arial" pitchFamily="34" charset="0"/>
              </a:rPr>
              <a:t>Sediment-loaded water has tremendous capacity to cut the rocks and hard surfaces, as a result gorges, ravines and valleys are formed</a:t>
            </a:r>
          </a:p>
          <a:p>
            <a:pPr algn="just">
              <a:buNone/>
            </a:pPr>
            <a:endParaRPr lang="en-US" sz="2800" b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6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Vortex\Desktop\tpreddy\121-RAW\weathering\baffin-island_832_600x4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7467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304800"/>
            <a:ext cx="2438400" cy="5334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WATER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304800"/>
            <a:ext cx="2438400" cy="5334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WATER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1026" descr="06_12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400800" y="304800"/>
            <a:ext cx="2297112" cy="3200400"/>
          </a:xfrm>
          <a:prstGeom prst="rect">
            <a:avLst/>
          </a:prstGeom>
          <a:ln/>
        </p:spPr>
      </p:pic>
      <p:pic>
        <p:nvPicPr>
          <p:cNvPr id="5" name="Picture 1027" descr="06_12C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8900" y="3505200"/>
            <a:ext cx="2247900" cy="31242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04800" y="1219200"/>
            <a:ext cx="6019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</a:rPr>
              <a:t>Joints in a rock are a pathway for water – they can enhance mechanical weathering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66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813" y="1819275"/>
            <a:ext cx="8334375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52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Vortex\Desktop\tpreddy\121-RAW\weathering\sandstone-swirls_1180_600x4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57150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6" name="Picture 2" descr="http://schools.bcsd.com/fremont/Graphics/Science/Earth%20Changes/wave-erosio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819400"/>
            <a:ext cx="4648200" cy="3686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182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305800" cy="5867400"/>
          </a:xfrm>
        </p:spPr>
        <p:txBody>
          <a:bodyPr>
            <a:normAutofit fontScale="85000" lnSpcReduction="10000"/>
          </a:bodyPr>
          <a:lstStyle/>
          <a:p>
            <a:pPr marL="3175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Physical/Mechanical weathering:</a:t>
            </a:r>
          </a:p>
          <a:p>
            <a:pPr indent="0" algn="just"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Water carries huge boulders which break into smaller </a:t>
            </a:r>
          </a:p>
          <a:p>
            <a:pPr indent="0" algn="just"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fragments due to continuous flowing in water with friction and/or abrasion.</a:t>
            </a:r>
          </a:p>
          <a:p>
            <a:pPr marL="3175" indent="0" algn="just">
              <a:buNone/>
            </a:pPr>
            <a:r>
              <a:rPr lang="en-US" sz="39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Ice:</a:t>
            </a:r>
          </a:p>
          <a:p>
            <a:pPr indent="0" algn="just">
              <a:buNone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In colder regions, the moving Ice or glaciers cause </a:t>
            </a:r>
          </a:p>
          <a:p>
            <a:pPr indent="0" algn="just">
              <a:buNone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great deal of cutting and crushing of bed rocks. On </a:t>
            </a:r>
          </a:p>
          <a:p>
            <a:pPr indent="0" algn="just">
              <a:buNone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moving, Ice or glaciers exert a tremendous pressure on rock over which these  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p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ass. </a:t>
            </a:r>
          </a:p>
          <a:p>
            <a:pPr indent="0" algn="just">
              <a:buNone/>
            </a:pPr>
            <a:endParaRPr lang="en-IN" sz="2800" b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indent="0" algn="just">
              <a:buNone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The loose materials moves forward and gets deposited at lower reaches after melting of ice. This </a:t>
            </a:r>
          </a:p>
          <a:p>
            <a:pPr indent="0" algn="just">
              <a:buNone/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deposit is called </a:t>
            </a:r>
            <a:r>
              <a:rPr lang="en-I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marine</a:t>
            </a:r>
            <a:endParaRPr lang="en-US" sz="28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0" algn="just">
              <a:buNone/>
            </a:pPr>
            <a:endParaRPr lang="en-US" sz="26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Ice wedging 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751" y="1905000"/>
            <a:ext cx="3851752" cy="285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1752600"/>
            <a:ext cx="4419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Wingdings" pitchFamily="2" charset="2"/>
              <a:buChar char="Ø"/>
            </a:pPr>
            <a:r>
              <a:rPr lang="en-IN" sz="2800" dirty="0" smtClean="0"/>
              <a:t>Water seeps into cracks in rocks and freezes.</a:t>
            </a:r>
          </a:p>
          <a:p>
            <a:pPr marL="514350" indent="-514350" algn="just">
              <a:buFont typeface="Wingdings" pitchFamily="2" charset="2"/>
              <a:buChar char="Ø"/>
            </a:pPr>
            <a:r>
              <a:rPr lang="en-IN" sz="2800" dirty="0" smtClean="0"/>
              <a:t>Water expands 10% when it freezes, pushing rock apart.</a:t>
            </a:r>
          </a:p>
          <a:p>
            <a:pPr marL="514350" indent="-514350" algn="just">
              <a:buFont typeface="Wingdings" pitchFamily="2" charset="2"/>
              <a:buChar char="Ø"/>
            </a:pPr>
            <a:r>
              <a:rPr lang="en-IN" sz="2800" dirty="0" smtClean="0"/>
              <a:t>Repeated freeze and thaw cycles over the years causes rock to break.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3062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895600"/>
            <a:ext cx="5299751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8200" y="1524000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u="sng" dirty="0" smtClean="0">
                <a:solidFill>
                  <a:srgbClr val="7030A0"/>
                </a:solidFill>
              </a:rPr>
              <a:t>Ice wedging-</a:t>
            </a:r>
            <a:r>
              <a:rPr lang="en-IN" sz="2400" u="sng" dirty="0" smtClean="0">
                <a:solidFill>
                  <a:srgbClr val="7030A0"/>
                </a:solidFill>
              </a:rPr>
              <a:t> </a:t>
            </a:r>
            <a:r>
              <a:rPr lang="en-IN" sz="2400" dirty="0" smtClean="0"/>
              <a:t>Water seeps into cracks in rocks, freezes and expands and eventually cracks the rock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freeze_thaw0"/>
          <p:cNvPicPr>
            <a:picLocks noChangeArrowheads="1"/>
          </p:cNvPicPr>
          <p:nvPr/>
        </p:nvPicPr>
        <p:blipFill>
          <a:blip r:embed="rId2" cstate="print"/>
          <a:srcRect l="999" b="2423"/>
          <a:stretch>
            <a:fillRect/>
          </a:stretch>
        </p:blipFill>
        <p:spPr bwMode="auto">
          <a:xfrm>
            <a:off x="304800" y="304800"/>
            <a:ext cx="4495800" cy="335438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4" name="Picture 19" descr="freeze_thaw1"/>
          <p:cNvPicPr>
            <a:picLocks noChangeArrowheads="1"/>
          </p:cNvPicPr>
          <p:nvPr/>
        </p:nvPicPr>
        <p:blipFill>
          <a:blip r:embed="rId3" cstate="print"/>
          <a:srcRect l="3600" r="8099" b="3055"/>
          <a:stretch>
            <a:fillRect/>
          </a:stretch>
        </p:blipFill>
        <p:spPr bwMode="auto">
          <a:xfrm>
            <a:off x="5105400" y="228600"/>
            <a:ext cx="3505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freeze_thaw3"/>
          <p:cNvPicPr>
            <a:picLocks noChangeArrowheads="1"/>
          </p:cNvPicPr>
          <p:nvPr/>
        </p:nvPicPr>
        <p:blipFill>
          <a:blip r:embed="rId4" cstate="print"/>
          <a:srcRect t="8058" r="10893" b="6447"/>
          <a:stretch>
            <a:fillRect/>
          </a:stretch>
        </p:blipFill>
        <p:spPr bwMode="auto">
          <a:xfrm>
            <a:off x="4648200" y="3962400"/>
            <a:ext cx="4114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4" descr="freeze_thaw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3897312"/>
            <a:ext cx="4191000" cy="273208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947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commons/thumb/0/05/Abiskorock.JPG/300px-Abiskorock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04800"/>
            <a:ext cx="6810375" cy="510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38400" y="5791200"/>
            <a:ext cx="4191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Frost weathering</a:t>
            </a:r>
          </a:p>
        </p:txBody>
      </p:sp>
    </p:spTree>
    <p:extLst>
      <p:ext uri="{BB962C8B-B14F-4D97-AF65-F5344CB8AC3E}">
        <p14:creationId xmlns:p14="http://schemas.microsoft.com/office/powerpoint/2010/main" val="226274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0490"/>
          <p:cNvPicPr>
            <a:picLocks noChangeAspect="1" noChangeArrowheads="1"/>
          </p:cNvPicPr>
          <p:nvPr/>
        </p:nvPicPr>
        <p:blipFill>
          <a:blip r:embed="rId2" cstate="print"/>
          <a:srcRect l="5682" t="2942" r="4546"/>
          <a:stretch>
            <a:fillRect/>
          </a:stretch>
        </p:blipFill>
        <p:spPr bwMode="auto">
          <a:xfrm>
            <a:off x="228600" y="304800"/>
            <a:ext cx="8686800" cy="6096000"/>
          </a:xfrm>
          <a:prstGeom prst="rect">
            <a:avLst/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7355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1027" descr="C:\Geomorphcdrom\Dittmer\freezethaw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3429000"/>
            <a:ext cx="4953000" cy="3170238"/>
          </a:xfrm>
          <a:prstGeom prst="rect">
            <a:avLst/>
          </a:prstGeom>
          <a:noFill/>
        </p:spPr>
      </p:pic>
      <p:pic>
        <p:nvPicPr>
          <p:cNvPr id="33796" name="Picture 1028" descr="http://earth.geol.ksu.edu/sgao/g100/plots/1015_frost_wedgin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76200"/>
            <a:ext cx="5029200" cy="3276600"/>
          </a:xfrm>
          <a:prstGeom prst="rect">
            <a:avLst/>
          </a:prstGeom>
          <a:noFill/>
        </p:spPr>
      </p:pic>
      <p:sp>
        <p:nvSpPr>
          <p:cNvPr id="33797" name="Rectangle 1029"/>
          <p:cNvSpPr>
            <a:spLocks noChangeArrowheads="1"/>
          </p:cNvSpPr>
          <p:nvPr/>
        </p:nvSpPr>
        <p:spPr bwMode="auto">
          <a:xfrm>
            <a:off x="304800" y="990600"/>
            <a:ext cx="3581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sz="2000" dirty="0"/>
              <a:t>	</a:t>
            </a:r>
            <a:r>
              <a:rPr lang="en-US" sz="3200" b="1" dirty="0">
                <a:solidFill>
                  <a:srgbClr val="0070C0"/>
                </a:solidFill>
                <a:cs typeface="Arial" pitchFamily="34" charset="0"/>
              </a:rPr>
              <a:t>Shattered rocks are common in cold and alpine environments where repeated freeze-thaw cycles gradually </a:t>
            </a:r>
            <a:r>
              <a:rPr lang="en-US" sz="3200" b="1" dirty="0" smtClean="0">
                <a:solidFill>
                  <a:srgbClr val="0070C0"/>
                </a:solidFill>
                <a:cs typeface="Arial" pitchFamily="34" charset="0"/>
              </a:rPr>
              <a:t>force or split </a:t>
            </a:r>
            <a:r>
              <a:rPr lang="en-US" sz="3200" b="1" dirty="0">
                <a:solidFill>
                  <a:srgbClr val="0070C0"/>
                </a:solidFill>
                <a:cs typeface="Arial" pitchFamily="34" charset="0"/>
              </a:rPr>
              <a:t>rocks apart.</a:t>
            </a:r>
          </a:p>
        </p:txBody>
      </p:sp>
    </p:spTree>
    <p:extLst>
      <p:ext uri="{BB962C8B-B14F-4D97-AF65-F5344CB8AC3E}">
        <p14:creationId xmlns:p14="http://schemas.microsoft.com/office/powerpoint/2010/main" val="20655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FF0000"/>
                </a:solidFill>
                <a:cs typeface="Arial" pitchFamily="34" charset="0"/>
              </a:rPr>
              <a:t>Physical/Mechanical weathering:</a:t>
            </a:r>
          </a:p>
          <a:p>
            <a:pPr algn="just">
              <a:buNone/>
            </a:pPr>
            <a:r>
              <a:rPr lang="en-US" sz="2200" b="1" dirty="0" smtClean="0">
                <a:solidFill>
                  <a:srgbClr val="0070C0"/>
                </a:solidFill>
                <a:cs typeface="Arial" pitchFamily="34" charset="0"/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cs typeface="Arial" pitchFamily="34" charset="0"/>
              </a:rPr>
              <a:t>Wind: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cs typeface="Arial" pitchFamily="34" charset="0"/>
              </a:rPr>
              <a:t>Important agent of transportation of suspended particles 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cs typeface="Arial" pitchFamily="34" charset="0"/>
              </a:rPr>
              <a:t> It also exert an abrasion effect which is more pronounced in the arid regions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cs typeface="Arial" pitchFamily="34" charset="0"/>
              </a:rPr>
              <a:t>The rounded rock Mushroom rock remnants in the </a:t>
            </a:r>
            <a:r>
              <a:rPr lang="en-US" sz="2200" b="1" dirty="0" err="1" smtClean="0">
                <a:cs typeface="Arial" pitchFamily="34" charset="0"/>
              </a:rPr>
              <a:t>Aravalis</a:t>
            </a:r>
            <a:r>
              <a:rPr lang="en-US" sz="2200" b="1" dirty="0" smtClean="0">
                <a:cs typeface="Arial" pitchFamily="34" charset="0"/>
              </a:rPr>
              <a:t> are caused by the wind erosion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solidFill>
                  <a:srgbClr val="FF0000"/>
                </a:solidFill>
                <a:cs typeface="Arial" pitchFamily="34" charset="0"/>
              </a:rPr>
              <a:t>Poorly grained </a:t>
            </a:r>
            <a:r>
              <a:rPr lang="en-US" sz="2200" b="1" dirty="0" smtClean="0">
                <a:cs typeface="Arial" pitchFamily="34" charset="0"/>
              </a:rPr>
              <a:t>or </a:t>
            </a:r>
            <a:r>
              <a:rPr lang="en-US" sz="2200" b="1" dirty="0" smtClean="0">
                <a:solidFill>
                  <a:srgbClr val="FF0000"/>
                </a:solidFill>
                <a:cs typeface="Arial" pitchFamily="34" charset="0"/>
              </a:rPr>
              <a:t>single grained </a:t>
            </a:r>
            <a:r>
              <a:rPr lang="en-US" sz="2200" b="1" dirty="0" smtClean="0">
                <a:cs typeface="Arial" pitchFamily="34" charset="0"/>
              </a:rPr>
              <a:t>deposits are more prone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cs typeface="Arial" pitchFamily="34" charset="0"/>
              </a:rPr>
              <a:t>Action of wind as weathering can  be prominently seen in </a:t>
            </a:r>
            <a:r>
              <a:rPr lang="en-US" sz="2200" b="1" dirty="0" err="1" smtClean="0">
                <a:solidFill>
                  <a:srgbClr val="FF0000"/>
                </a:solidFill>
                <a:cs typeface="Arial" pitchFamily="34" charset="0"/>
              </a:rPr>
              <a:t>Thar</a:t>
            </a:r>
            <a:r>
              <a:rPr lang="en-US" sz="2200" b="1" dirty="0" smtClean="0">
                <a:solidFill>
                  <a:srgbClr val="FF0000"/>
                </a:solidFill>
                <a:cs typeface="Arial" pitchFamily="34" charset="0"/>
              </a:rPr>
              <a:t> Desert of Rajasthan</a:t>
            </a:r>
          </a:p>
          <a:p>
            <a:pPr algn="just">
              <a:lnSpc>
                <a:spcPct val="150000"/>
              </a:lnSpc>
              <a:buNone/>
            </a:pPr>
            <a:endParaRPr lang="en-US" sz="2200" b="1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534400" cy="990600"/>
          </a:xfrm>
        </p:spPr>
        <p:txBody>
          <a:bodyPr/>
          <a:lstStyle/>
          <a:p>
            <a:r>
              <a:rPr lang="en-US" sz="3200" dirty="0">
                <a:latin typeface="Comic Sans MS" pitchFamily="66" charset="0"/>
              </a:rPr>
              <a:t>Surface Area and Weathering</a:t>
            </a:r>
            <a:r>
              <a:rPr lang="en-US" dirty="0"/>
              <a:t> </a:t>
            </a:r>
          </a:p>
        </p:txBody>
      </p:sp>
      <p:pic>
        <p:nvPicPr>
          <p:cNvPr id="43011" name="Picture 3" descr="D:\working copy\GRAPHIC0\GEOMORPH\SurfaceVol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371600"/>
            <a:ext cx="4572000" cy="5257800"/>
          </a:xfrm>
          <a:prstGeom prst="rect">
            <a:avLst/>
          </a:prstGeom>
          <a:noFill/>
        </p:spPr>
      </p:pic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609600" y="1066800"/>
            <a:ext cx="777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2209800" cy="685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WIND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 descr="http://upload.wikimedia.org/wikipedia/commons/thumb/7/7c/Arbol_de_Piedra.jpg/220px-Arbol_de_Piedra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219200"/>
            <a:ext cx="3505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C:\Users\Soils\Desktop\images quotes\bryce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914400"/>
            <a:ext cx="4343400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Documents and Settings\Vortex\Desktop\tpreddy\121-RAW\weathering\arizona-rock_824_600x4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0"/>
            <a:ext cx="660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 descr="Sunset on Delicate Arch, Arches National Par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52400"/>
            <a:ext cx="4495800" cy="304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ultimatechase.com/chase_accounts/Images/Monsoon_Photo_Shoot_2007/Monsoon_Lightning_0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04800" y="304800"/>
            <a:ext cx="7086600" cy="9144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Atmospheric eclectic phenomenon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http://www.ultimatechase.com/chase_accounts/Images/Monsoon_Photo_Shoot_2007/Monsoon_Lightning_0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304800" y="6096000"/>
            <a:ext cx="19050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52400"/>
            <a:ext cx="5791200" cy="60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BIOLOGICAL WEATHERING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38200"/>
            <a:ext cx="8077200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buClr>
                <a:schemeClr val="hlink"/>
              </a:buClr>
              <a:buSzPct val="85000"/>
              <a:defRPr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Is the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Physical   disintegration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, and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chemical decomposition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of rocks and minerals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by living agents.</a:t>
            </a:r>
          </a:p>
          <a:p>
            <a:pPr algn="just">
              <a:spcBef>
                <a:spcPct val="20000"/>
              </a:spcBef>
              <a:buClr>
                <a:schemeClr val="hlink"/>
              </a:buClr>
              <a:buSzPct val="85000"/>
              <a:defRPr/>
            </a:pPr>
            <a:endParaRPr lang="en-US" sz="2400" dirty="0" smtClean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pitchFamily="34" charset="0"/>
            </a:endParaRPr>
          </a:p>
          <a:p>
            <a:pPr algn="just">
              <a:spcBef>
                <a:spcPct val="20000"/>
              </a:spcBef>
              <a:buClr>
                <a:schemeClr val="hlink"/>
              </a:buClr>
              <a:buSzPct val="85000"/>
              <a:defRPr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Man, animals, higher plants, earth worms, termites and micro organisms are responsible for biological weathering</a:t>
            </a:r>
          </a:p>
          <a:p>
            <a:pPr algn="just">
              <a:spcBef>
                <a:spcPct val="20000"/>
              </a:spcBef>
              <a:buClr>
                <a:schemeClr val="hlink"/>
              </a:buClr>
              <a:buSzPct val="85000"/>
              <a:defRPr/>
            </a:pPr>
            <a:endParaRPr lang="en-US" sz="2400" dirty="0" smtClean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Organic activity from lichen and algae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Rock disintegration by plant growth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Burrowing and tunneling organisms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Secretion of acids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Biological Weathering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38862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 descr="http://schools.bcsd.com/fremont/Graphics/Science/Earth%20Changes/plant-in-rock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1000"/>
            <a:ext cx="4191000" cy="617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0"/>
            <a:ext cx="8153400" cy="9184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Flora</a:t>
            </a: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7200" y="948690"/>
            <a:ext cx="8381999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The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Calibri" pitchFamily="34" charset="0"/>
              </a:rPr>
              <a:t>roots of the plants penetrate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into small cracks of rocks. As they grow they exert disruptive force due to which even hard rocks break into pieces.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US" sz="2800" dirty="0" smtClean="0"/>
              <a:t>Some </a:t>
            </a:r>
            <a:r>
              <a:rPr lang="en-US" sz="2800" dirty="0" smtClean="0">
                <a:solidFill>
                  <a:srgbClr val="FF0000"/>
                </a:solidFill>
              </a:rPr>
              <a:t>roots grow deep in to soil </a:t>
            </a:r>
            <a:r>
              <a:rPr lang="en-US" sz="2800" dirty="0" smtClean="0"/>
              <a:t>and make open channels for percolation of water in to deeper layers.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US" sz="2800" dirty="0" smtClean="0">
                <a:solidFill>
                  <a:srgbClr val="FF0000"/>
                </a:solidFill>
              </a:rPr>
              <a:t>Roots produce acids </a:t>
            </a:r>
            <a:r>
              <a:rPr lang="en-US" sz="2800" dirty="0" smtClean="0"/>
              <a:t>(organic acids), which have </a:t>
            </a:r>
            <a:r>
              <a:rPr lang="en-US" sz="2800" dirty="0" err="1" smtClean="0"/>
              <a:t>solubilizing</a:t>
            </a:r>
            <a:r>
              <a:rPr lang="en-US" sz="2800" dirty="0" smtClean="0"/>
              <a:t> action of Minerals of rocks making them weak.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US" sz="2800" dirty="0" smtClean="0"/>
              <a:t>The decomposition of organic matter due to microbial activity also </a:t>
            </a:r>
            <a:r>
              <a:rPr lang="en-US" sz="2800" dirty="0" smtClean="0">
                <a:solidFill>
                  <a:srgbClr val="FF0000"/>
                </a:solidFill>
              </a:rPr>
              <a:t>produces several products </a:t>
            </a:r>
            <a:r>
              <a:rPr lang="en-US" sz="2800" dirty="0" smtClean="0"/>
              <a:t>which play a role in chemical weathering.</a:t>
            </a:r>
            <a:endParaRPr lang="en-I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Biological Weathering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38862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 descr="http://schools.bcsd.com/fremont/Graphics/Science/Earth%20Changes/plant-in-rock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1000"/>
            <a:ext cx="4191000" cy="617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C:\Users\Bala Krishna\.android\Favorites\Downloads\IMG-20230614-WA00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153400" cy="624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0"/>
            <a:ext cx="8153400" cy="9184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Fauna</a:t>
            </a: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en-US" sz="3200" b="1" dirty="0" smtClean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04801" y="-8525628"/>
            <a:ext cx="8381999" cy="21636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lang="en-US" sz="28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IN" sz="28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The disintegration of rocks by cutting action of hills and rocks to build dams, roads, houses etc., by humans.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animals, insects live in rocks make burrows and holes in rocks leading to weakening of rocks.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IN" sz="2800" dirty="0" smtClean="0">
                <a:solidFill>
                  <a:srgbClr val="FF0000"/>
                </a:solidFill>
              </a:rPr>
              <a:t>Ants and termites </a:t>
            </a:r>
            <a:r>
              <a:rPr lang="en-IN" sz="2800" dirty="0" smtClean="0"/>
              <a:t>built galleries and passages and water percolate through the channels and galleries and help in weathering of materials in subsurface horizons. They secrete some acids like </a:t>
            </a:r>
            <a:r>
              <a:rPr lang="en-IN" sz="2800" dirty="0" smtClean="0">
                <a:solidFill>
                  <a:srgbClr val="FF0000"/>
                </a:solidFill>
              </a:rPr>
              <a:t>formic acid</a:t>
            </a:r>
            <a:r>
              <a:rPr lang="en-IN" sz="2800" dirty="0" smtClean="0"/>
              <a:t>, which aid in decomposition of rocks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r>
              <a:rPr lang="en-US" sz="2800" dirty="0" smtClean="0"/>
              <a:t>.</a:t>
            </a:r>
            <a:endParaRPr lang="en-IN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IN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US" sz="2800" dirty="0" smtClean="0"/>
          </a:p>
          <a:p>
            <a:pPr lvl="1" algn="just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1358900" algn="l"/>
              </a:tabLst>
            </a:pPr>
            <a:endParaRPr lang="en-IN" sz="2800" dirty="0" smtClean="0"/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358900" algn="l"/>
              </a:tabLs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7" name="Picture 5" descr="o16-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19200" y="1295400"/>
            <a:ext cx="6934200" cy="5181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3400"/>
            <a:ext cx="9144000" cy="399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1200" marR="730250" indent="428625" algn="just">
              <a:lnSpc>
                <a:spcPct val="145000"/>
              </a:lnSpc>
              <a:spcBef>
                <a:spcPts val="580"/>
              </a:spcBef>
              <a:spcAft>
                <a:spcPts val="0"/>
              </a:spcAft>
            </a:pPr>
            <a:r>
              <a:rPr lang="en-US" sz="2800" dirty="0" smtClean="0">
                <a:ea typeface="Calibri"/>
                <a:cs typeface="Arial" pitchFamily="34" charset="0"/>
              </a:rPr>
              <a:t>The physical, chemical and biological weathering processes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occur simultaneously in</a:t>
            </a:r>
            <a:r>
              <a:rPr lang="en-US" sz="2800" spc="5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nature.</a:t>
            </a:r>
            <a:r>
              <a:rPr lang="en-US" sz="2800" spc="5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 </a:t>
            </a:r>
          </a:p>
          <a:p>
            <a:pPr marL="711200" marR="730250" indent="428625" algn="just">
              <a:lnSpc>
                <a:spcPct val="145000"/>
              </a:lnSpc>
              <a:spcBef>
                <a:spcPts val="580"/>
              </a:spcBef>
              <a:spcAft>
                <a:spcPts val="0"/>
              </a:spcAft>
            </a:pPr>
            <a:endParaRPr lang="en-US" sz="2800" spc="5" dirty="0" smtClean="0">
              <a:solidFill>
                <a:srgbClr val="FF0000"/>
              </a:solidFill>
              <a:ea typeface="Calibri"/>
              <a:cs typeface="Arial" pitchFamily="34" charset="0"/>
            </a:endParaRPr>
          </a:p>
          <a:p>
            <a:pPr marL="711200" marR="730250" indent="428625" algn="just">
              <a:lnSpc>
                <a:spcPct val="145000"/>
              </a:lnSpc>
              <a:spcBef>
                <a:spcPts val="580"/>
              </a:spcBef>
              <a:spcAft>
                <a:spcPts val="0"/>
              </a:spcAft>
            </a:pPr>
            <a:r>
              <a:rPr lang="en-US" sz="2800" dirty="0" smtClean="0">
                <a:ea typeface="Calibri"/>
                <a:cs typeface="Arial" pitchFamily="34" charset="0"/>
              </a:rPr>
              <a:t>Like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wise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different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chemical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weathering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processes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occur</a:t>
            </a:r>
            <a:r>
              <a:rPr lang="en-US" sz="2800" spc="5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simultaneously</a:t>
            </a:r>
            <a:r>
              <a:rPr lang="en-US" sz="2800" spc="5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ea typeface="Calibri"/>
                <a:cs typeface="Arial" pitchFamily="34" charset="0"/>
              </a:rPr>
              <a:t>and</a:t>
            </a:r>
            <a:r>
              <a:rPr lang="en-US" sz="2800" spc="5" dirty="0" smtClean="0"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are</a:t>
            </a:r>
            <a:r>
              <a:rPr lang="en-US" sz="2800" spc="5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a typeface="Calibri"/>
                <a:cs typeface="Arial" pitchFamily="34" charset="0"/>
              </a:rPr>
              <a:t>interdependent.</a:t>
            </a:r>
            <a:endParaRPr lang="en-IN" sz="2800" dirty="0">
              <a:solidFill>
                <a:srgbClr val="FF0000"/>
              </a:solidFill>
              <a:ea typeface="Calibri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66800"/>
            <a:ext cx="8305800" cy="350520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Tx/>
              <a:buChar char="•"/>
            </a:pPr>
            <a:r>
              <a:rPr lang="en-US" b="1" dirty="0" smtClean="0">
                <a:solidFill>
                  <a:srgbClr val="FF0000"/>
                </a:solidFill>
                <a:cs typeface="Arial" pitchFamily="34" charset="0"/>
              </a:rPr>
              <a:t>Action of plants and animals</a:t>
            </a:r>
            <a:r>
              <a:rPr lang="en-US" dirty="0" smtClean="0">
                <a:solidFill>
                  <a:schemeClr val="tx1"/>
                </a:solidFill>
                <a:cs typeface="Arial" pitchFamily="34" charset="0"/>
              </a:rPr>
              <a:t>:</a:t>
            </a:r>
          </a:p>
          <a:p>
            <a:pPr marL="742950" lvl="1" indent="-285750" algn="l">
              <a:buFontTx/>
              <a:buChar char="–"/>
            </a:pPr>
            <a:r>
              <a:rPr lang="en-US" sz="3200" b="1" dirty="0" smtClean="0">
                <a:solidFill>
                  <a:srgbClr val="002060"/>
                </a:solidFill>
                <a:cs typeface="Arial" pitchFamily="34" charset="0"/>
              </a:rPr>
              <a:t>Lichens and mosses grow on rocks</a:t>
            </a:r>
          </a:p>
          <a:p>
            <a:pPr marL="742950" lvl="1" indent="-285750" algn="l">
              <a:buFontTx/>
              <a:buChar char="–"/>
            </a:pPr>
            <a:endParaRPr lang="en-US" sz="3200" b="1" dirty="0" smtClean="0">
              <a:solidFill>
                <a:srgbClr val="002060"/>
              </a:solidFill>
              <a:cs typeface="Arial" pitchFamily="34" charset="0"/>
            </a:endParaRPr>
          </a:p>
          <a:p>
            <a:pPr marL="1143000" lvl="2" indent="-228600" algn="l">
              <a:buFontTx/>
              <a:buChar char="•"/>
            </a:pPr>
            <a:r>
              <a:rPr lang="en-US" sz="3200" b="1" dirty="0" smtClean="0">
                <a:solidFill>
                  <a:srgbClr val="002060"/>
                </a:solidFill>
                <a:cs typeface="Arial" pitchFamily="34" charset="0"/>
              </a:rPr>
              <a:t>They wedge their tiny roots into spores and crevices.</a:t>
            </a:r>
          </a:p>
          <a:p>
            <a:pPr lvl="2" algn="l"/>
            <a:endParaRPr lang="en-US" sz="3200" b="1" dirty="0" smtClean="0">
              <a:solidFill>
                <a:srgbClr val="002060"/>
              </a:solidFill>
              <a:cs typeface="Arial" pitchFamily="34" charset="0"/>
            </a:endParaRPr>
          </a:p>
          <a:p>
            <a:pPr marL="1143000" lvl="2" indent="-228600" algn="l">
              <a:buFontTx/>
              <a:buChar char="•"/>
            </a:pPr>
            <a:r>
              <a:rPr lang="en-US" sz="3200" b="1" dirty="0" smtClean="0">
                <a:solidFill>
                  <a:srgbClr val="002060"/>
                </a:solidFill>
                <a:cs typeface="Arial" pitchFamily="34" charset="0"/>
              </a:rPr>
              <a:t>When the roots grow, the rock splits.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7800" y="2354759"/>
            <a:ext cx="571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>
                <a:solidFill>
                  <a:srgbClr val="C00000"/>
                </a:solidFill>
              </a:rPr>
              <a:t>THANK YOU</a:t>
            </a:r>
            <a:endParaRPr lang="en-IN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43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1055</Words>
  <Application>Microsoft Office PowerPoint</Application>
  <PresentationFormat>On-screen Show (4:3)</PresentationFormat>
  <Paragraphs>171</Paragraphs>
  <Slides>42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Sheet Joints  (Exfoliation)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Ice wedging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Surface Area and Weathering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Soils</dc:creator>
  <cp:lastModifiedBy>Windows User</cp:lastModifiedBy>
  <cp:revision>97</cp:revision>
  <dcterms:created xsi:type="dcterms:W3CDTF">2006-08-16T00:00:00Z</dcterms:created>
  <dcterms:modified xsi:type="dcterms:W3CDTF">2026-08-17T11:57:11Z</dcterms:modified>
</cp:coreProperties>
</file>